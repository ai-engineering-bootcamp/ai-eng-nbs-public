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8"/>
  </p:notesMasterIdLst>
  <p:sldIdLst>
    <p:sldId id="256" r:id="rId2"/>
    <p:sldId id="260" r:id="rId3"/>
    <p:sldId id="261" r:id="rId4"/>
    <p:sldId id="265" r:id="rId5"/>
    <p:sldId id="266" r:id="rId6"/>
    <p:sldId id="267" r:id="rId7"/>
    <p:sldId id="268" r:id="rId8"/>
    <p:sldId id="264" r:id="rId9"/>
    <p:sldId id="269" r:id="rId10"/>
    <p:sldId id="270" r:id="rId11"/>
    <p:sldId id="258" r:id="rId12"/>
    <p:sldId id="271" r:id="rId13"/>
    <p:sldId id="272" r:id="rId14"/>
    <p:sldId id="274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>
      <p:cViewPr varScale="1">
        <p:scale>
          <a:sx n="103" d="100"/>
          <a:sy n="103" d="100"/>
        </p:scale>
        <p:origin x="89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227BC-2EBA-284B-8361-900FA3149BB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492-2404-EA4D-B5B9-E368FCB937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5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2FF8F-C3AB-29DA-6FF3-79C37293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87C4C6-F497-71AC-686A-39FDE36DA1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333C8-7DE1-A705-8FEA-73240AB10E5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5671789-E5CE-ADE1-F6E9-C92F4780A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00F21F9-3FE6-7666-ADCD-749FCFC75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ED99C0-1733-12A5-E226-CAE266ACFD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DD6CD-055D-C84B-E92B-6047264C2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74092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997F-D437-2C10-A8F0-2B1F6FE8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854C04-7217-3F9E-E521-830A76C022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46B1E-5ACB-20B3-AF5B-04656D900B1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A806D1E-A18C-2AA2-80D2-612B5E06A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E48E0D4-A7BD-83ED-3A68-1C797339E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623F5-E467-7D49-158F-B4452A33F6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BBF64-79C5-F020-D3E7-9D17DE23B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931682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98C0B-9C5A-ED06-E095-53836A6D8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FCF61E-EF7E-DA20-5E22-49B8208912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992F5-3F17-CD1D-0B8C-C037C5A465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9A4A2DC-458D-E6A3-1A2D-EE970A8DC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85F0C29-2228-9E25-67BC-E59416F77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0FCF22-61D8-A68E-8B96-2E396CAF6D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70520-2AC9-7C0F-CB73-2E5582289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87521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AB6F9-60AB-5B3D-3256-15F4AFE2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95FF7E-9458-4467-FB38-2B8B9808F0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66704-3265-676E-E50C-8DBE02D5CC5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292ECEE-5A80-77C1-73D3-6592EFB53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8093FE-A7A3-00B2-D481-8628BC0DD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30C88-837C-DB77-B7CE-25E399AF5B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763FC-F42A-2D98-B20F-95C4F0DB87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4522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6252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6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63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0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050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6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89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34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7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0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4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2D13B0-A9AF-C547-37E2-FADEA0B443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36" r="25764"/>
          <a:stretch/>
        </p:blipFill>
        <p:spPr>
          <a:xfrm>
            <a:off x="4648200" y="10"/>
            <a:ext cx="754380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884" y="934542"/>
            <a:ext cx="10321575" cy="499093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716B4-E1C7-4976-022B-8EE7F4489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541" y="1597225"/>
            <a:ext cx="3729306" cy="1831775"/>
          </a:xfrm>
        </p:spPr>
        <p:txBody>
          <a:bodyPr anchor="ctr">
            <a:normAutofit/>
          </a:bodyPr>
          <a:lstStyle/>
          <a:p>
            <a:r>
              <a:rPr lang="en-US" dirty="0"/>
              <a:t>Ai Engineering</a:t>
            </a:r>
            <a:br>
              <a:rPr lang="en-US" dirty="0"/>
            </a:br>
            <a:r>
              <a:rPr lang="en-US" dirty="0"/>
              <a:t>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FBF330-A256-9B84-B872-3235E4B29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1700" y="4042954"/>
            <a:ext cx="2660037" cy="1384689"/>
          </a:xfrm>
        </p:spPr>
        <p:txBody>
          <a:bodyPr anchor="b">
            <a:normAutofit/>
          </a:bodyPr>
          <a:lstStyle/>
          <a:p>
            <a:r>
              <a:rPr lang="en-US" dirty="0"/>
              <a:t>An overview</a:t>
            </a:r>
          </a:p>
        </p:txBody>
      </p:sp>
    </p:spTree>
    <p:extLst>
      <p:ext uri="{BB962C8B-B14F-4D97-AF65-F5344CB8AC3E}">
        <p14:creationId xmlns:p14="http://schemas.microsoft.com/office/powerpoint/2010/main" val="3253747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71882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T" sz="1200"/>
          </a:p>
        </p:txBody>
      </p:sp>
      <p:sp>
        <p:nvSpPr>
          <p:cNvPr id="3" name="TextBox 3"/>
          <p:cNvSpPr txBox="1"/>
          <p:nvPr/>
        </p:nvSpPr>
        <p:spPr>
          <a:xfrm>
            <a:off x="1016000" y="904975"/>
            <a:ext cx="10253889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4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SOME DEFINITIONS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760719" y="1592920"/>
            <a:ext cx="8764451" cy="4805784"/>
            <a:chOff x="0" y="0"/>
            <a:chExt cx="17528901" cy="96115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528921" cy="9611614"/>
            </a:xfrm>
            <a:custGeom>
              <a:avLst/>
              <a:gdLst/>
              <a:ahLst/>
              <a:cxnLst/>
              <a:rect l="l" t="t" r="r" b="b"/>
              <a:pathLst>
                <a:path w="17528921" h="9611614">
                  <a:moveTo>
                    <a:pt x="0" y="0"/>
                  </a:moveTo>
                  <a:lnTo>
                    <a:pt x="17528921" y="0"/>
                  </a:lnTo>
                  <a:lnTo>
                    <a:pt x="17528921" y="9611614"/>
                  </a:lnTo>
                  <a:lnTo>
                    <a:pt x="0" y="9611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89" b="-1188"/>
              </a:stretch>
            </a:blipFill>
          </p:spPr>
          <p:txBody>
            <a:bodyPr/>
            <a:lstStyle/>
            <a:p>
              <a:endParaRPr lang="en-PT"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480605" y="6507525"/>
            <a:ext cx="7501167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200" spc="96">
                <a:solidFill>
                  <a:srgbClr val="2DC5F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Squad | Intro to AI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95B69B-DCE5-49F0-36C3-68035BBD5332}"/>
              </a:ext>
            </a:extLst>
          </p:cNvPr>
          <p:cNvSpPr/>
          <p:nvPr/>
        </p:nvSpPr>
        <p:spPr>
          <a:xfrm>
            <a:off x="4165600" y="5370919"/>
            <a:ext cx="914400" cy="660400"/>
          </a:xfrm>
          <a:prstGeom prst="ellipse">
            <a:avLst/>
          </a:prstGeom>
          <a:solidFill>
            <a:srgbClr val="8E641F"/>
          </a:soli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 Narrow" panose="020B0604020202020204" pitchFamily="34" charset="0"/>
                <a:cs typeface="Arial Narrow" panose="020B0604020202020204" pitchFamily="34" charset="0"/>
              </a:rPr>
              <a:t>Modern</a:t>
            </a:r>
          </a:p>
          <a:p>
            <a:pPr algn="ctr"/>
            <a:r>
              <a:rPr lang="en-US" sz="1200" dirty="0">
                <a:latin typeface="Arial Narrow" panose="020B0604020202020204" pitchFamily="34" charset="0"/>
                <a:cs typeface="Arial Narrow" panose="020B0604020202020204" pitchFamily="34" charset="0"/>
              </a:rPr>
              <a:t>AI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16000" y="904975"/>
            <a:ext cx="10253889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4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AI IS NOT NEW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80605" y="6507525"/>
            <a:ext cx="7501167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200" spc="96">
                <a:solidFill>
                  <a:srgbClr val="2DC5F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Squad | Intro to AI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56F6215-FD79-0B73-9694-FBC75C34BB8B}"/>
              </a:ext>
            </a:extLst>
          </p:cNvPr>
          <p:cNvSpPr txBox="1"/>
          <p:nvPr/>
        </p:nvSpPr>
        <p:spPr>
          <a:xfrm>
            <a:off x="1036595" y="1314284"/>
            <a:ext cx="10253889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2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THEN WHY IS IT FAMOUS NOW?</a:t>
            </a:r>
          </a:p>
        </p:txBody>
      </p:sp>
      <p:pic>
        <p:nvPicPr>
          <p:cNvPr id="7" name="Picture 6" descr="A diagram of a evolution of ai techniques&#10;&#10;Description automatically generated">
            <a:extLst>
              <a:ext uri="{FF2B5EF4-FFF2-40B4-BE49-F238E27FC236}">
                <a16:creationId xmlns:a16="http://schemas.microsoft.com/office/drawing/2014/main" id="{5D6FFF9B-5909-DA37-FD58-C96FF32820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8" y="1833657"/>
            <a:ext cx="4927600" cy="4927600"/>
          </a:xfrm>
          <a:prstGeom prst="rect">
            <a:avLst/>
          </a:prstGeom>
        </p:spPr>
      </p:pic>
      <p:pic>
        <p:nvPicPr>
          <p:cNvPr id="2050" name="Picture 2" descr="The Emergence of Symbolic AI: How Mathematical Logic Paved the Way for  Solving Complex Problems | by HAI_Shakers | MLmedia | Medium">
            <a:extLst>
              <a:ext uri="{FF2B5EF4-FFF2-40B4-BE49-F238E27FC236}">
                <a16:creationId xmlns:a16="http://schemas.microsoft.com/office/drawing/2014/main" id="{092760C1-21CD-5FD3-0AF0-970170E1F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325" y="0"/>
            <a:ext cx="37131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179DD8C-ACD1-54C4-62F5-43C6A104316C}"/>
              </a:ext>
            </a:extLst>
          </p:cNvPr>
          <p:cNvSpPr/>
          <p:nvPr/>
        </p:nvSpPr>
        <p:spPr>
          <a:xfrm>
            <a:off x="1800224" y="2671763"/>
            <a:ext cx="1700213" cy="127158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DBECE-874C-327A-85F8-5A71C1633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2FB3283-8AF3-A22B-3666-A359FC0F4B61}"/>
              </a:ext>
            </a:extLst>
          </p:cNvPr>
          <p:cNvSpPr txBox="1"/>
          <p:nvPr/>
        </p:nvSpPr>
        <p:spPr>
          <a:xfrm>
            <a:off x="1016000" y="904975"/>
            <a:ext cx="10253889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4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AI IS NOT NEW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99782DF-8BF4-2CB0-D244-50B6FACAD2BD}"/>
              </a:ext>
            </a:extLst>
          </p:cNvPr>
          <p:cNvSpPr txBox="1"/>
          <p:nvPr/>
        </p:nvSpPr>
        <p:spPr>
          <a:xfrm>
            <a:off x="4480605" y="6507525"/>
            <a:ext cx="7501167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200" spc="96">
                <a:solidFill>
                  <a:srgbClr val="2DC5F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Squad | Intro to AI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48F2869-E71D-5CF7-FF05-F6BFEE1A917C}"/>
              </a:ext>
            </a:extLst>
          </p:cNvPr>
          <p:cNvSpPr txBox="1"/>
          <p:nvPr/>
        </p:nvSpPr>
        <p:spPr>
          <a:xfrm>
            <a:off x="1036595" y="1314284"/>
            <a:ext cx="10253889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2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THEN WHY IS IT FAMOUS NOW?</a:t>
            </a:r>
          </a:p>
        </p:txBody>
      </p:sp>
      <p:pic>
        <p:nvPicPr>
          <p:cNvPr id="7" name="Picture 6" descr="A diagram of a evolution of ai techniques&#10;&#10;Description automatically generated">
            <a:extLst>
              <a:ext uri="{FF2B5EF4-FFF2-40B4-BE49-F238E27FC236}">
                <a16:creationId xmlns:a16="http://schemas.microsoft.com/office/drawing/2014/main" id="{4FAFC5C1-E5EF-B5BA-A0C4-6F1772C84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8" y="1833657"/>
            <a:ext cx="4927600" cy="49276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E88E401-DB15-9EE6-982D-2910F62E32BB}"/>
              </a:ext>
            </a:extLst>
          </p:cNvPr>
          <p:cNvSpPr/>
          <p:nvPr/>
        </p:nvSpPr>
        <p:spPr>
          <a:xfrm>
            <a:off x="3229757" y="2528166"/>
            <a:ext cx="1728006" cy="160092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Modeling Threshold Logic Neural Networks: McCulloch-Pitts model and Rosenblatt's  Perceptrons">
            <a:extLst>
              <a:ext uri="{FF2B5EF4-FFF2-40B4-BE49-F238E27FC236}">
                <a16:creationId xmlns:a16="http://schemas.microsoft.com/office/drawing/2014/main" id="{9D238026-E0A6-451B-27D1-193234093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213" y="904974"/>
            <a:ext cx="5785559" cy="524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77720233-027D-4DA9-CEDB-73885BB26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976" y="904973"/>
            <a:ext cx="5780796" cy="5780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plementing the Perceptron Neural Network with Python - PyImageSearch">
            <a:extLst>
              <a:ext uri="{FF2B5EF4-FFF2-40B4-BE49-F238E27FC236}">
                <a16:creationId xmlns:a16="http://schemas.microsoft.com/office/drawing/2014/main" id="{D6DB281F-EAC9-F523-5F43-C69DDE485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31"/>
          <a:stretch/>
        </p:blipFill>
        <p:spPr bwMode="auto">
          <a:xfrm>
            <a:off x="6196213" y="2292022"/>
            <a:ext cx="5785559" cy="308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06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3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E9F24-7584-B632-F268-315EFCDF2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2D1593-A413-FBE6-BCA8-5DB0FB26FB13}"/>
              </a:ext>
            </a:extLst>
          </p:cNvPr>
          <p:cNvSpPr txBox="1"/>
          <p:nvPr/>
        </p:nvSpPr>
        <p:spPr>
          <a:xfrm>
            <a:off x="1016000" y="904975"/>
            <a:ext cx="10253889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4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AI IS NOT NEW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3CA3578-6904-67EA-E57B-E5EE7605766D}"/>
              </a:ext>
            </a:extLst>
          </p:cNvPr>
          <p:cNvSpPr txBox="1"/>
          <p:nvPr/>
        </p:nvSpPr>
        <p:spPr>
          <a:xfrm>
            <a:off x="4480605" y="6507525"/>
            <a:ext cx="7501167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200" spc="96">
                <a:solidFill>
                  <a:srgbClr val="2DC5F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Squad | Intro to AI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80F5D12-5BFF-2C0A-90BC-4D541666A407}"/>
              </a:ext>
            </a:extLst>
          </p:cNvPr>
          <p:cNvSpPr txBox="1"/>
          <p:nvPr/>
        </p:nvSpPr>
        <p:spPr>
          <a:xfrm>
            <a:off x="1036595" y="1314284"/>
            <a:ext cx="10253889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2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THEN WHY IS IT FAMOUS NOW?</a:t>
            </a:r>
          </a:p>
        </p:txBody>
      </p:sp>
      <p:pic>
        <p:nvPicPr>
          <p:cNvPr id="7" name="Picture 6" descr="A diagram of a evolution of ai techniques&#10;&#10;Description automatically generated">
            <a:extLst>
              <a:ext uri="{FF2B5EF4-FFF2-40B4-BE49-F238E27FC236}">
                <a16:creationId xmlns:a16="http://schemas.microsoft.com/office/drawing/2014/main" id="{A9281822-6FF1-52F7-95C3-9F6DC4046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8" y="1833657"/>
            <a:ext cx="4927600" cy="49276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BE5D345-ECFD-F457-EE0A-D31554A0A6CE}"/>
              </a:ext>
            </a:extLst>
          </p:cNvPr>
          <p:cNvSpPr/>
          <p:nvPr/>
        </p:nvSpPr>
        <p:spPr>
          <a:xfrm>
            <a:off x="1643061" y="3771900"/>
            <a:ext cx="2000252" cy="137160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874649-6D8B-A331-7DAD-73643F97C64C}"/>
              </a:ext>
            </a:extLst>
          </p:cNvPr>
          <p:cNvSpPr txBox="1"/>
          <p:nvPr/>
        </p:nvSpPr>
        <p:spPr>
          <a:xfrm>
            <a:off x="5700713" y="2527400"/>
            <a:ext cx="628105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Statistical Learning Theory</a:t>
            </a:r>
          </a:p>
          <a:p>
            <a:r>
              <a:rPr lang="en-US" sz="2800" dirty="0"/>
              <a:t> - being right according to reason </a:t>
            </a:r>
          </a:p>
          <a:p>
            <a:r>
              <a:rPr lang="en-US" sz="2800" dirty="0"/>
              <a:t>    -&gt; being right ‘on average’</a:t>
            </a:r>
          </a:p>
          <a:p>
            <a:r>
              <a:rPr lang="en-US" sz="2800" dirty="0"/>
              <a:t> - SVM</a:t>
            </a:r>
            <a:br>
              <a:rPr lang="en-US" sz="4000" dirty="0"/>
            </a:br>
            <a:r>
              <a:rPr lang="en-US" sz="4000" dirty="0"/>
              <a:t>Computational Power</a:t>
            </a:r>
          </a:p>
        </p:txBody>
      </p:sp>
    </p:spTree>
    <p:extLst>
      <p:ext uri="{BB962C8B-B14F-4D97-AF65-F5344CB8AC3E}">
        <p14:creationId xmlns:p14="http://schemas.microsoft.com/office/powerpoint/2010/main" val="262527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3ED0-77A0-0936-DEFC-3C3DDD7D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0AB489D-ABA0-4EFD-E7CB-74C38E95932B}"/>
              </a:ext>
            </a:extLst>
          </p:cNvPr>
          <p:cNvSpPr txBox="1"/>
          <p:nvPr/>
        </p:nvSpPr>
        <p:spPr>
          <a:xfrm>
            <a:off x="1016000" y="904975"/>
            <a:ext cx="10253889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4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AI IS NOT NEW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42A2C4A-B960-B1CF-77A3-33725931F0CE}"/>
              </a:ext>
            </a:extLst>
          </p:cNvPr>
          <p:cNvSpPr txBox="1"/>
          <p:nvPr/>
        </p:nvSpPr>
        <p:spPr>
          <a:xfrm>
            <a:off x="4480605" y="6507525"/>
            <a:ext cx="7501167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200" spc="96">
                <a:solidFill>
                  <a:srgbClr val="2DC5F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Squad | Intro to AI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59B25781-6060-EC12-9E4D-9FABA2BCDCAC}"/>
              </a:ext>
            </a:extLst>
          </p:cNvPr>
          <p:cNvSpPr txBox="1"/>
          <p:nvPr/>
        </p:nvSpPr>
        <p:spPr>
          <a:xfrm>
            <a:off x="1036595" y="1314284"/>
            <a:ext cx="10253889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2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THEN WHY IS IT FAMOUS NOW?</a:t>
            </a:r>
          </a:p>
        </p:txBody>
      </p:sp>
      <p:pic>
        <p:nvPicPr>
          <p:cNvPr id="7" name="Picture 6" descr="A diagram of a evolution of ai techniques&#10;&#10;Description automatically generated">
            <a:extLst>
              <a:ext uri="{FF2B5EF4-FFF2-40B4-BE49-F238E27FC236}">
                <a16:creationId xmlns:a16="http://schemas.microsoft.com/office/drawing/2014/main" id="{6815E1BF-1400-E554-4321-5D9763511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8" y="1833657"/>
            <a:ext cx="4927600" cy="49276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63FE826-3F3E-6B44-3626-829E8F2B01EE}"/>
              </a:ext>
            </a:extLst>
          </p:cNvPr>
          <p:cNvSpPr/>
          <p:nvPr/>
        </p:nvSpPr>
        <p:spPr>
          <a:xfrm>
            <a:off x="210228" y="3611656"/>
            <a:ext cx="1990047" cy="1574707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59029-F0F6-3EDD-0E33-D194F559854B}"/>
              </a:ext>
            </a:extLst>
          </p:cNvPr>
          <p:cNvSpPr txBox="1"/>
          <p:nvPr/>
        </p:nvSpPr>
        <p:spPr>
          <a:xfrm>
            <a:off x="5829300" y="2414758"/>
            <a:ext cx="54611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 err="1"/>
              <a:t>AlexNet</a:t>
            </a:r>
            <a:r>
              <a:rPr lang="en-US" sz="2400" dirty="0"/>
              <a:t> winning ImageNet - proved deep CNNs superior for computer vision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GPU computing making training feasible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Large labeled datasets becoming available</a:t>
            </a:r>
          </a:p>
        </p:txBody>
      </p:sp>
    </p:spTree>
    <p:extLst>
      <p:ext uri="{BB962C8B-B14F-4D97-AF65-F5344CB8AC3E}">
        <p14:creationId xmlns:p14="http://schemas.microsoft.com/office/powerpoint/2010/main" val="103319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667B-8717-8719-59E0-8DCACADA3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4AC336A-45E3-69D8-87DB-533FD13D81DB}"/>
              </a:ext>
            </a:extLst>
          </p:cNvPr>
          <p:cNvSpPr txBox="1"/>
          <p:nvPr/>
        </p:nvSpPr>
        <p:spPr>
          <a:xfrm>
            <a:off x="1016000" y="904975"/>
            <a:ext cx="10253889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4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AI IS NOT NEW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ED536A7-FBFF-E3C3-5B39-964E597E86AB}"/>
              </a:ext>
            </a:extLst>
          </p:cNvPr>
          <p:cNvSpPr txBox="1"/>
          <p:nvPr/>
        </p:nvSpPr>
        <p:spPr>
          <a:xfrm>
            <a:off x="4480605" y="6507525"/>
            <a:ext cx="7501167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200" spc="96">
                <a:solidFill>
                  <a:srgbClr val="2DC5FA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Squad | Intro to AI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2542EB8-5E8A-2B16-45E0-06F24C6F58AC}"/>
              </a:ext>
            </a:extLst>
          </p:cNvPr>
          <p:cNvSpPr txBox="1"/>
          <p:nvPr/>
        </p:nvSpPr>
        <p:spPr>
          <a:xfrm>
            <a:off x="1036595" y="1314284"/>
            <a:ext cx="10253889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2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THEN WHY IS IT FAMOUS NOW?</a:t>
            </a:r>
          </a:p>
        </p:txBody>
      </p:sp>
      <p:pic>
        <p:nvPicPr>
          <p:cNvPr id="7" name="Picture 6" descr="A diagram of a evolution of ai techniques&#10;&#10;Description automatically generated">
            <a:extLst>
              <a:ext uri="{FF2B5EF4-FFF2-40B4-BE49-F238E27FC236}">
                <a16:creationId xmlns:a16="http://schemas.microsoft.com/office/drawing/2014/main" id="{BA9CAA6B-5A2F-5728-E952-3F62628FA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8" y="1833657"/>
            <a:ext cx="4927600" cy="49276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71ECEEB-AE1A-0F88-30B3-29C42F047770}"/>
              </a:ext>
            </a:extLst>
          </p:cNvPr>
          <p:cNvSpPr/>
          <p:nvPr/>
        </p:nvSpPr>
        <p:spPr>
          <a:xfrm>
            <a:off x="385763" y="4643438"/>
            <a:ext cx="4586286" cy="206824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0" name="Picture 2" descr="AI-generated slop is already clogging the arteries of the web | Simon Owens">
            <a:extLst>
              <a:ext uri="{FF2B5EF4-FFF2-40B4-BE49-F238E27FC236}">
                <a16:creationId xmlns:a16="http://schemas.microsoft.com/office/drawing/2014/main" id="{984D12CB-BC05-1AAB-3779-A5DE8D5DB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865" y="1833656"/>
            <a:ext cx="6570135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018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667" y="2167303"/>
            <a:ext cx="12192000" cy="4690597"/>
            <a:chOff x="0" y="0"/>
            <a:chExt cx="24384000" cy="10431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431290"/>
            </a:xfrm>
            <a:custGeom>
              <a:avLst/>
              <a:gdLst/>
              <a:ahLst/>
              <a:cxnLst/>
              <a:rect l="l" t="t" r="r" b="b"/>
              <a:pathLst>
                <a:path w="24384000" h="10431290">
                  <a:moveTo>
                    <a:pt x="0" y="0"/>
                  </a:moveTo>
                  <a:lnTo>
                    <a:pt x="24384000" y="0"/>
                  </a:lnTo>
                  <a:lnTo>
                    <a:pt x="24384000" y="10431290"/>
                  </a:lnTo>
                  <a:lnTo>
                    <a:pt x="0" y="10431290"/>
                  </a:lnTo>
                  <a:close/>
                </a:path>
              </a:pathLst>
            </a:custGeom>
            <a:solidFill>
              <a:srgbClr val="2DC5FA"/>
            </a:solidFill>
          </p:spPr>
          <p:txBody>
            <a:bodyPr/>
            <a:lstStyle/>
            <a:p>
              <a:endParaRPr lang="en-PT" sz="1200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63600" y="2789042"/>
            <a:ext cx="10253295" cy="3139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Computational power</a:t>
            </a:r>
          </a:p>
          <a:p>
            <a:pPr algn="ctr">
              <a:lnSpc>
                <a:spcPts val="2400"/>
              </a:lnSpc>
            </a:pPr>
            <a:endParaRPr lang="en-US" sz="3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400"/>
              </a:lnSpc>
            </a:pPr>
            <a: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</a:p>
          <a:p>
            <a:pPr algn="ctr">
              <a:lnSpc>
                <a:spcPts val="2400"/>
              </a:lnSpc>
            </a:pPr>
            <a:endParaRPr lang="en-US" sz="3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400"/>
              </a:lnSpc>
            </a:pPr>
            <a: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Algorithmic Innovations</a:t>
            </a:r>
          </a:p>
          <a:p>
            <a:pPr algn="ctr">
              <a:lnSpc>
                <a:spcPts val="2400"/>
              </a:lnSpc>
            </a:pPr>
            <a:endParaRPr lang="en-US" sz="3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400"/>
              </a:lnSpc>
            </a:pPr>
            <a: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</a:p>
          <a:p>
            <a:pPr algn="ctr">
              <a:lnSpc>
                <a:spcPts val="2400"/>
              </a:lnSpc>
            </a:pPr>
            <a:endParaRPr lang="en-US" sz="3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400"/>
              </a:lnSpc>
            </a:pPr>
            <a:r>
              <a:rPr lang="en-US" sz="36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Finally, we can do AI “properly”</a:t>
            </a:r>
          </a:p>
          <a:p>
            <a:pPr>
              <a:lnSpc>
                <a:spcPts val="2400"/>
              </a:lnSpc>
            </a:pPr>
            <a:endParaRPr lang="en-US" sz="3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480605" y="6507525"/>
            <a:ext cx="7501167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200" spc="96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 Squad | Intro to AI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85676434-B94B-FA6E-F63C-8F12F42D68DC}"/>
              </a:ext>
            </a:extLst>
          </p:cNvPr>
          <p:cNvSpPr txBox="1"/>
          <p:nvPr/>
        </p:nvSpPr>
        <p:spPr>
          <a:xfrm>
            <a:off x="1016000" y="904975"/>
            <a:ext cx="10253889" cy="51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4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AI IS NOT NEW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4CB1A2B-0CDB-715A-FE3A-2D5322AB2E9C}"/>
              </a:ext>
            </a:extLst>
          </p:cNvPr>
          <p:cNvSpPr txBox="1"/>
          <p:nvPr/>
        </p:nvSpPr>
        <p:spPr>
          <a:xfrm>
            <a:off x="1036595" y="1314284"/>
            <a:ext cx="10253889" cy="44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0"/>
              </a:lnSpc>
            </a:pPr>
            <a:r>
              <a:rPr lang="en-US" sz="2000" dirty="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THEN WHY IS IT FAMOUS NOW?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2D28-0C6B-AD63-040F-2C8C81AF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going to teach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458DE6-21FC-424D-775C-2485880F304C}"/>
              </a:ext>
            </a:extLst>
          </p:cNvPr>
          <p:cNvSpPr txBox="1"/>
          <p:nvPr/>
        </p:nvSpPr>
        <p:spPr>
          <a:xfrm>
            <a:off x="1594047" y="2564199"/>
            <a:ext cx="9164441" cy="276998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/>
              <a:t>Python, Bash &amp; Git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/>
              <a:t>How to work with data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/>
              <a:t>Computer Vision and CNN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/>
              <a:t>NLP and transformers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/>
              <a:t>OpenAI API and chatbots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/>
              <a:t>RAG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 err="1"/>
              <a:t>Langchain</a:t>
            </a:r>
            <a:endParaRPr lang="en-US" sz="2400" dirty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/>
              <a:t>Agents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2400" dirty="0"/>
              <a:t>Intro to ML/AI deployment and </a:t>
            </a:r>
            <a:r>
              <a:rPr lang="en-US" sz="2400" dirty="0" err="1"/>
              <a:t>MLOps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7642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5884" y="934542"/>
            <a:ext cx="10321575" cy="499093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2863F-95AE-740F-DE83-C44CEAA14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045" y="929841"/>
            <a:ext cx="8792605" cy="628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spc="530" dirty="0"/>
              <a:t>Easy = f(time doing similar things)</a:t>
            </a:r>
          </a:p>
        </p:txBody>
      </p:sp>
      <p:pic>
        <p:nvPicPr>
          <p:cNvPr id="4" name="Picture 3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99B2F13D-9AE4-CF2D-381A-36DA1173E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16" y="1743075"/>
            <a:ext cx="6046356" cy="4187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A6A6D-FD20-3A23-185D-B7BEEBB3261E}"/>
              </a:ext>
            </a:extLst>
          </p:cNvPr>
          <p:cNvSpPr txBox="1"/>
          <p:nvPr/>
        </p:nvSpPr>
        <p:spPr>
          <a:xfrm>
            <a:off x="1423495" y="2049853"/>
            <a:ext cx="309892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1800" dirty="0"/>
              <a:t>Python, Bash &amp; Git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1800" dirty="0"/>
              <a:t>How to work with data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1800" dirty="0"/>
              <a:t>Computer Vision and CNN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en-US" sz="1800" dirty="0"/>
              <a:t>NLP and transformers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D11C7-0AAB-EFB8-A8AE-08EC94868E4F}"/>
              </a:ext>
            </a:extLst>
          </p:cNvPr>
          <p:cNvSpPr txBox="1"/>
          <p:nvPr/>
        </p:nvSpPr>
        <p:spPr>
          <a:xfrm>
            <a:off x="5643976" y="3498741"/>
            <a:ext cx="29038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Ask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questions.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Ask for help!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315AE-3EA9-1F4F-7EF4-20B835F8CD84}"/>
              </a:ext>
            </a:extLst>
          </p:cNvPr>
          <p:cNvSpPr txBox="1"/>
          <p:nvPr/>
        </p:nvSpPr>
        <p:spPr>
          <a:xfrm>
            <a:off x="9179074" y="3571992"/>
            <a:ext cx="18854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Ask for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extra </a:t>
            </a:r>
          </a:p>
          <a:p>
            <a:r>
              <a:rPr lang="en-US" sz="3200" dirty="0">
                <a:solidFill>
                  <a:schemeClr val="bg1"/>
                </a:solidFill>
              </a:rPr>
              <a:t>challenge</a:t>
            </a:r>
          </a:p>
        </p:txBody>
      </p:sp>
    </p:spTree>
    <p:extLst>
      <p:ext uri="{BB962C8B-B14F-4D97-AF65-F5344CB8AC3E}">
        <p14:creationId xmlns:p14="http://schemas.microsoft.com/office/powerpoint/2010/main" val="391451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D0267C2-9A87-5888-0384-969AD93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8570" y="930513"/>
            <a:ext cx="3740452" cy="4989589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7FECF-574B-CCB5-64C0-4CFE2E450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845" y="1162591"/>
            <a:ext cx="3355901" cy="182879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spc="530" dirty="0"/>
              <a:t>Bash: Command line tools</a:t>
            </a:r>
          </a:p>
        </p:txBody>
      </p:sp>
      <p:pic>
        <p:nvPicPr>
          <p:cNvPr id="1026" name="Picture 2" descr="Wax On, Wax Off: The Way to Movement Mastery? | Football Beyond The Stats">
            <a:extLst>
              <a:ext uri="{FF2B5EF4-FFF2-40B4-BE49-F238E27FC236}">
                <a16:creationId xmlns:a16="http://schemas.microsoft.com/office/drawing/2014/main" id="{D1709624-9207-2389-13A2-A5DB417DC9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4925" y="3667754"/>
            <a:ext cx="4046896" cy="297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erson and a child talking&#10;&#10;AI-generated content may be incorrect.">
            <a:extLst>
              <a:ext uri="{FF2B5EF4-FFF2-40B4-BE49-F238E27FC236}">
                <a16:creationId xmlns:a16="http://schemas.microsoft.com/office/drawing/2014/main" id="{194ECBD1-3B89-4BE1-1F15-3C8DA3E70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808" y="709042"/>
            <a:ext cx="5043130" cy="273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67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98610F1-E865-734C-A01F-A818EC23E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2EAEE-449D-202E-8B05-B5860AE03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5230" y="933584"/>
            <a:ext cx="5547293" cy="497191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0AAA7-D417-292B-92A5-169BD3603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981" y="1597224"/>
            <a:ext cx="4348195" cy="18317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spc="530" dirty="0"/>
              <a:t>Git and Bash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942460-4405-655E-4D84-682A3D497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230" y="981074"/>
            <a:ext cx="5547292" cy="487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988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Rectangle 108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90" name="Rectangle 1089">
            <a:extLst>
              <a:ext uri="{FF2B5EF4-FFF2-40B4-BE49-F238E27FC236}">
                <a16:creationId xmlns:a16="http://schemas.microsoft.com/office/drawing/2014/main" id="{812CB9FF-7D0E-C6EE-FD1E-5414C1C2F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arveling at the Soaking Wet Rockettes of the Olympics - The New York Times">
            <a:extLst>
              <a:ext uri="{FF2B5EF4-FFF2-40B4-BE49-F238E27FC236}">
                <a16:creationId xmlns:a16="http://schemas.microsoft.com/office/drawing/2014/main" id="{5C4C493F-CB62-2CDF-5634-CB67CA12A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6" b="2195"/>
          <a:stretch/>
        </p:blipFill>
        <p:spPr bwMode="auto">
          <a:xfrm>
            <a:off x="-5113" y="10"/>
            <a:ext cx="1219200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2" name="Rectangle 1091">
            <a:extLst>
              <a:ext uri="{FF2B5EF4-FFF2-40B4-BE49-F238E27FC236}">
                <a16:creationId xmlns:a16="http://schemas.microsoft.com/office/drawing/2014/main" id="{B1265C47-634B-A7D4-08DA-A968ECF62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3473354"/>
            <a:ext cx="12192000" cy="338464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56000"/>
                </a:srgbClr>
              </a:gs>
              <a:gs pos="100000">
                <a:srgbClr val="000000">
                  <a:alpha val="0"/>
                </a:srgbClr>
              </a:gs>
              <a:gs pos="60000">
                <a:srgbClr val="000000">
                  <a:alpha val="2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3CD3C432-05FE-7D3E-5EB8-67F28604E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838"/>
            <a:ext cx="12192001" cy="2687083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38000"/>
                </a:srgbClr>
              </a:gs>
              <a:gs pos="100000">
                <a:srgbClr val="000000">
                  <a:alpha val="0"/>
                </a:srgbClr>
              </a:gs>
              <a:gs pos="56000">
                <a:srgbClr val="000000">
                  <a:alpha val="20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087" name="Straight Connector 1086">
            <a:extLst>
              <a:ext uri="{FF2B5EF4-FFF2-40B4-BE49-F238E27FC236}">
                <a16:creationId xmlns:a16="http://schemas.microsoft.com/office/drawing/2014/main" id="{D950B3B1-E09E-2E5C-DA01-D850800DF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5041" y="933221"/>
            <a:ext cx="0" cy="3566765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9" name="Freeform: Shape 1088">
            <a:extLst>
              <a:ext uri="{FF2B5EF4-FFF2-40B4-BE49-F238E27FC236}">
                <a16:creationId xmlns:a16="http://schemas.microsoft.com/office/drawing/2014/main" id="{1209CF69-6CF6-B01F-3539-6718EDFC6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5811987" y="-3962526"/>
            <a:ext cx="547377" cy="10342555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0 w 9987788"/>
              <a:gd name="connsiteY0" fmla="*/ 2249229 h 4920343"/>
              <a:gd name="connsiteX1" fmla="*/ 1994 w 9987788"/>
              <a:gd name="connsiteY1" fmla="*/ 0 h 4920343"/>
              <a:gd name="connsiteX2" fmla="*/ 9987788 w 9987788"/>
              <a:gd name="connsiteY2" fmla="*/ 0 h 4920343"/>
              <a:gd name="connsiteX3" fmla="*/ 9987788 w 9987788"/>
              <a:gd name="connsiteY3" fmla="*/ 4920343 h 4920343"/>
              <a:gd name="connsiteX4" fmla="*/ 1994 w 9987788"/>
              <a:gd name="connsiteY4" fmla="*/ 4920343 h 4920343"/>
              <a:gd name="connsiteX5" fmla="*/ 1994 w 9987788"/>
              <a:gd name="connsiteY5" fmla="*/ 4119525 h 4920343"/>
              <a:gd name="connsiteX0" fmla="*/ 10003 w 9985823"/>
              <a:gd name="connsiteY0" fmla="*/ 2385996 h 4920343"/>
              <a:gd name="connsiteX1" fmla="*/ 29 w 9985823"/>
              <a:gd name="connsiteY1" fmla="*/ 0 h 4920343"/>
              <a:gd name="connsiteX2" fmla="*/ 9985823 w 9985823"/>
              <a:gd name="connsiteY2" fmla="*/ 0 h 4920343"/>
              <a:gd name="connsiteX3" fmla="*/ 9985823 w 9985823"/>
              <a:gd name="connsiteY3" fmla="*/ 4920343 h 4920343"/>
              <a:gd name="connsiteX4" fmla="*/ 29 w 9985823"/>
              <a:gd name="connsiteY4" fmla="*/ 4920343 h 4920343"/>
              <a:gd name="connsiteX5" fmla="*/ 29 w 9985823"/>
              <a:gd name="connsiteY5" fmla="*/ 4119525 h 4920343"/>
              <a:gd name="connsiteX0" fmla="*/ 192 w 9985985"/>
              <a:gd name="connsiteY0" fmla="*/ 2390079 h 4920343"/>
              <a:gd name="connsiteX1" fmla="*/ 191 w 9985985"/>
              <a:gd name="connsiteY1" fmla="*/ 0 h 4920343"/>
              <a:gd name="connsiteX2" fmla="*/ 9985985 w 9985985"/>
              <a:gd name="connsiteY2" fmla="*/ 0 h 4920343"/>
              <a:gd name="connsiteX3" fmla="*/ 9985985 w 9985985"/>
              <a:gd name="connsiteY3" fmla="*/ 4920343 h 4920343"/>
              <a:gd name="connsiteX4" fmla="*/ 191 w 9985985"/>
              <a:gd name="connsiteY4" fmla="*/ 4920343 h 4920343"/>
              <a:gd name="connsiteX5" fmla="*/ 191 w 9985985"/>
              <a:gd name="connsiteY5" fmla="*/ 4119525 h 4920343"/>
              <a:gd name="connsiteX0" fmla="*/ 192 w 9985985"/>
              <a:gd name="connsiteY0" fmla="*/ 2390079 h 4920343"/>
              <a:gd name="connsiteX1" fmla="*/ 191 w 9985985"/>
              <a:gd name="connsiteY1" fmla="*/ 0 h 4920343"/>
              <a:gd name="connsiteX2" fmla="*/ 9985985 w 9985985"/>
              <a:gd name="connsiteY2" fmla="*/ 0 h 4920343"/>
              <a:gd name="connsiteX3" fmla="*/ 9985985 w 9985985"/>
              <a:gd name="connsiteY3" fmla="*/ 4920343 h 4920343"/>
              <a:gd name="connsiteX4" fmla="*/ 191 w 9985985"/>
              <a:gd name="connsiteY4" fmla="*/ 4920343 h 4920343"/>
              <a:gd name="connsiteX0" fmla="*/ 192 w 9985985"/>
              <a:gd name="connsiteY0" fmla="*/ 2390079 h 4920343"/>
              <a:gd name="connsiteX1" fmla="*/ 191 w 9985985"/>
              <a:gd name="connsiteY1" fmla="*/ 0 h 4920343"/>
              <a:gd name="connsiteX2" fmla="*/ 9985985 w 9985985"/>
              <a:gd name="connsiteY2" fmla="*/ 0 h 4920343"/>
              <a:gd name="connsiteX3" fmla="*/ 9985985 w 9985985"/>
              <a:gd name="connsiteY3" fmla="*/ 4920343 h 4920343"/>
              <a:gd name="connsiteX0" fmla="*/ -1 w 9985793"/>
              <a:gd name="connsiteY0" fmla="*/ 0 h 4920343"/>
              <a:gd name="connsiteX1" fmla="*/ 9985793 w 9985793"/>
              <a:gd name="connsiteY1" fmla="*/ 0 h 4920343"/>
              <a:gd name="connsiteX2" fmla="*/ 9985793 w 9985793"/>
              <a:gd name="connsiteY2" fmla="*/ 4920343 h 4920343"/>
              <a:gd name="connsiteX0" fmla="*/ 0 w 2295500"/>
              <a:gd name="connsiteY0" fmla="*/ 0 h 4925526"/>
              <a:gd name="connsiteX1" fmla="*/ 2295500 w 2295500"/>
              <a:gd name="connsiteY1" fmla="*/ 5183 h 4925526"/>
              <a:gd name="connsiteX2" fmla="*/ 2295500 w 2295500"/>
              <a:gd name="connsiteY2" fmla="*/ 4925526 h 4925526"/>
              <a:gd name="connsiteX0" fmla="*/ 0 w 866754"/>
              <a:gd name="connsiteY0" fmla="*/ 2592 h 4920343"/>
              <a:gd name="connsiteX1" fmla="*/ 866754 w 866754"/>
              <a:gd name="connsiteY1" fmla="*/ 0 h 4920343"/>
              <a:gd name="connsiteX2" fmla="*/ 866754 w 866754"/>
              <a:gd name="connsiteY2" fmla="*/ 4920343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66754" h="4920343">
                <a:moveTo>
                  <a:pt x="0" y="2592"/>
                </a:moveTo>
                <a:lnTo>
                  <a:pt x="866754" y="0"/>
                </a:lnTo>
                <a:lnTo>
                  <a:pt x="866754" y="4920343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91" name="Freeform: Shape 1090">
            <a:extLst>
              <a:ext uri="{FF2B5EF4-FFF2-40B4-BE49-F238E27FC236}">
                <a16:creationId xmlns:a16="http://schemas.microsoft.com/office/drawing/2014/main" id="{503A1D62-23C1-901B-42CA-7DD6F7C0B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06266" y="1269571"/>
            <a:ext cx="3468315" cy="5838422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0 w 9987788"/>
              <a:gd name="connsiteY0" fmla="*/ 2249229 h 4920343"/>
              <a:gd name="connsiteX1" fmla="*/ 1994 w 9987788"/>
              <a:gd name="connsiteY1" fmla="*/ 0 h 4920343"/>
              <a:gd name="connsiteX2" fmla="*/ 9987788 w 9987788"/>
              <a:gd name="connsiteY2" fmla="*/ 0 h 4920343"/>
              <a:gd name="connsiteX3" fmla="*/ 9987788 w 9987788"/>
              <a:gd name="connsiteY3" fmla="*/ 4920343 h 4920343"/>
              <a:gd name="connsiteX4" fmla="*/ 1994 w 9987788"/>
              <a:gd name="connsiteY4" fmla="*/ 4920343 h 4920343"/>
              <a:gd name="connsiteX5" fmla="*/ 1994 w 9987788"/>
              <a:gd name="connsiteY5" fmla="*/ 4119525 h 4920343"/>
              <a:gd name="connsiteX0" fmla="*/ 10003 w 9985823"/>
              <a:gd name="connsiteY0" fmla="*/ 2385996 h 4920343"/>
              <a:gd name="connsiteX1" fmla="*/ 29 w 9985823"/>
              <a:gd name="connsiteY1" fmla="*/ 0 h 4920343"/>
              <a:gd name="connsiteX2" fmla="*/ 9985823 w 9985823"/>
              <a:gd name="connsiteY2" fmla="*/ 0 h 4920343"/>
              <a:gd name="connsiteX3" fmla="*/ 9985823 w 9985823"/>
              <a:gd name="connsiteY3" fmla="*/ 4920343 h 4920343"/>
              <a:gd name="connsiteX4" fmla="*/ 29 w 9985823"/>
              <a:gd name="connsiteY4" fmla="*/ 4920343 h 4920343"/>
              <a:gd name="connsiteX5" fmla="*/ 29 w 9985823"/>
              <a:gd name="connsiteY5" fmla="*/ 4119525 h 4920343"/>
              <a:gd name="connsiteX0" fmla="*/ 192 w 9985985"/>
              <a:gd name="connsiteY0" fmla="*/ 2390079 h 4920343"/>
              <a:gd name="connsiteX1" fmla="*/ 191 w 9985985"/>
              <a:gd name="connsiteY1" fmla="*/ 0 h 4920343"/>
              <a:gd name="connsiteX2" fmla="*/ 9985985 w 9985985"/>
              <a:gd name="connsiteY2" fmla="*/ 0 h 4920343"/>
              <a:gd name="connsiteX3" fmla="*/ 9985985 w 9985985"/>
              <a:gd name="connsiteY3" fmla="*/ 4920343 h 4920343"/>
              <a:gd name="connsiteX4" fmla="*/ 191 w 9985985"/>
              <a:gd name="connsiteY4" fmla="*/ 4920343 h 4920343"/>
              <a:gd name="connsiteX5" fmla="*/ 191 w 9985985"/>
              <a:gd name="connsiteY5" fmla="*/ 4119525 h 4920343"/>
              <a:gd name="connsiteX0" fmla="*/ 192 w 9985985"/>
              <a:gd name="connsiteY0" fmla="*/ 2390079 h 4920343"/>
              <a:gd name="connsiteX1" fmla="*/ 191 w 9985985"/>
              <a:gd name="connsiteY1" fmla="*/ 0 h 4920343"/>
              <a:gd name="connsiteX2" fmla="*/ 9985985 w 9985985"/>
              <a:gd name="connsiteY2" fmla="*/ 0 h 4920343"/>
              <a:gd name="connsiteX3" fmla="*/ 9985985 w 9985985"/>
              <a:gd name="connsiteY3" fmla="*/ 4920343 h 4920343"/>
              <a:gd name="connsiteX4" fmla="*/ 191 w 9985985"/>
              <a:gd name="connsiteY4" fmla="*/ 4920343 h 4920343"/>
              <a:gd name="connsiteX0" fmla="*/ 192 w 9985985"/>
              <a:gd name="connsiteY0" fmla="*/ 2390079 h 4920343"/>
              <a:gd name="connsiteX1" fmla="*/ 191 w 9985985"/>
              <a:gd name="connsiteY1" fmla="*/ 0 h 4920343"/>
              <a:gd name="connsiteX2" fmla="*/ 9985985 w 9985985"/>
              <a:gd name="connsiteY2" fmla="*/ 0 h 4920343"/>
              <a:gd name="connsiteX3" fmla="*/ 9985985 w 9985985"/>
              <a:gd name="connsiteY3" fmla="*/ 4920343 h 4920343"/>
              <a:gd name="connsiteX0" fmla="*/ -1 w 9985793"/>
              <a:gd name="connsiteY0" fmla="*/ 0 h 4920343"/>
              <a:gd name="connsiteX1" fmla="*/ 9985793 w 9985793"/>
              <a:gd name="connsiteY1" fmla="*/ 0 h 4920343"/>
              <a:gd name="connsiteX2" fmla="*/ 9985793 w 9985793"/>
              <a:gd name="connsiteY2" fmla="*/ 4920343 h 4920343"/>
              <a:gd name="connsiteX0" fmla="*/ 0 w 2295500"/>
              <a:gd name="connsiteY0" fmla="*/ 0 h 4925526"/>
              <a:gd name="connsiteX1" fmla="*/ 2295500 w 2295500"/>
              <a:gd name="connsiteY1" fmla="*/ 5183 h 4925526"/>
              <a:gd name="connsiteX2" fmla="*/ 2295500 w 2295500"/>
              <a:gd name="connsiteY2" fmla="*/ 4925526 h 4925526"/>
              <a:gd name="connsiteX0" fmla="*/ 0 w 866754"/>
              <a:gd name="connsiteY0" fmla="*/ 2592 h 4920343"/>
              <a:gd name="connsiteX1" fmla="*/ 866754 w 866754"/>
              <a:gd name="connsiteY1" fmla="*/ 0 h 4920343"/>
              <a:gd name="connsiteX2" fmla="*/ 866754 w 866754"/>
              <a:gd name="connsiteY2" fmla="*/ 4920343 h 4920343"/>
              <a:gd name="connsiteX0" fmla="*/ 0 w 3176280"/>
              <a:gd name="connsiteY0" fmla="*/ 0 h 4927294"/>
              <a:gd name="connsiteX1" fmla="*/ 3176280 w 3176280"/>
              <a:gd name="connsiteY1" fmla="*/ 6951 h 4927294"/>
              <a:gd name="connsiteX2" fmla="*/ 3176280 w 3176280"/>
              <a:gd name="connsiteY2" fmla="*/ 4927294 h 4927294"/>
              <a:gd name="connsiteX0" fmla="*/ -1 w 5403573"/>
              <a:gd name="connsiteY0" fmla="*/ 0 h 4921569"/>
              <a:gd name="connsiteX1" fmla="*/ 5403573 w 5403573"/>
              <a:gd name="connsiteY1" fmla="*/ 1226 h 4921569"/>
              <a:gd name="connsiteX2" fmla="*/ 5403573 w 5403573"/>
              <a:gd name="connsiteY2" fmla="*/ 4921569 h 4921569"/>
              <a:gd name="connsiteX0" fmla="*/ 0 w 5464351"/>
              <a:gd name="connsiteY0" fmla="*/ 0 h 4923478"/>
              <a:gd name="connsiteX1" fmla="*/ 5464351 w 5464351"/>
              <a:gd name="connsiteY1" fmla="*/ 3135 h 4923478"/>
              <a:gd name="connsiteX2" fmla="*/ 5464351 w 5464351"/>
              <a:gd name="connsiteY2" fmla="*/ 4923478 h 4923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64351" h="4923478">
                <a:moveTo>
                  <a:pt x="0" y="0"/>
                </a:moveTo>
                <a:lnTo>
                  <a:pt x="5464351" y="3135"/>
                </a:lnTo>
                <a:lnTo>
                  <a:pt x="5464351" y="492347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D5C07D-9BFA-8B95-7646-F43F9C95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490" y="4507606"/>
            <a:ext cx="4622718" cy="1642056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 spc="530" dirty="0">
                <a:solidFill>
                  <a:schemeClr val="bg1"/>
                </a:solidFill>
              </a:rPr>
              <a:t>It works on my machine</a:t>
            </a:r>
            <a:br>
              <a:rPr lang="en-US" sz="2200" spc="530" dirty="0">
                <a:solidFill>
                  <a:schemeClr val="bg1"/>
                </a:solidFill>
              </a:rPr>
            </a:br>
            <a:r>
              <a:rPr lang="en-US" sz="2200" spc="530" dirty="0">
                <a:solidFill>
                  <a:schemeClr val="bg1"/>
                </a:solidFill>
              </a:rPr>
              <a:t> → </a:t>
            </a:r>
            <a:br>
              <a:rPr lang="en-US" sz="2200" spc="530" dirty="0">
                <a:solidFill>
                  <a:schemeClr val="bg1"/>
                </a:solidFill>
              </a:rPr>
            </a:br>
            <a:r>
              <a:rPr lang="en-US" sz="2200" spc="530" dirty="0">
                <a:solidFill>
                  <a:schemeClr val="bg1"/>
                </a:solidFill>
              </a:rPr>
              <a:t>It works on everyone's machine</a:t>
            </a:r>
          </a:p>
        </p:txBody>
      </p:sp>
    </p:spTree>
    <p:extLst>
      <p:ext uri="{BB962C8B-B14F-4D97-AF65-F5344CB8AC3E}">
        <p14:creationId xmlns:p14="http://schemas.microsoft.com/office/powerpoint/2010/main" val="361101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756B7-3D8F-35B4-097D-F33C69D62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1E2C3B9A-B4D2-F54D-15F0-06653E183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0068CEB5-F191-9D3E-BAC0-B0E21272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arveling at the Soaking Wet Rockettes of the Olympics - The New York Times">
            <a:extLst>
              <a:ext uri="{FF2B5EF4-FFF2-40B4-BE49-F238E27FC236}">
                <a16:creationId xmlns:a16="http://schemas.microsoft.com/office/drawing/2014/main" id="{F4A78292-B164-E2B9-85FD-E6ACDB8A1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70" r="23428" b="-2"/>
          <a:stretch/>
        </p:blipFill>
        <p:spPr bwMode="auto">
          <a:xfrm>
            <a:off x="20" y="-1"/>
            <a:ext cx="4654276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9464ED38-224B-AB8F-2B4A-18C5B2BE0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884" y="931856"/>
            <a:ext cx="10318890" cy="4994960"/>
          </a:xfrm>
          <a:custGeom>
            <a:avLst/>
            <a:gdLst>
              <a:gd name="connsiteX0" fmla="*/ 0 w 4172596"/>
              <a:gd name="connsiteY0" fmla="*/ 0 h 4952999"/>
              <a:gd name="connsiteX1" fmla="*/ 4172596 w 4172596"/>
              <a:gd name="connsiteY1" fmla="*/ 0 h 4952999"/>
              <a:gd name="connsiteX2" fmla="*/ 4172596 w 4172596"/>
              <a:gd name="connsiteY2" fmla="*/ 342900 h 4952999"/>
              <a:gd name="connsiteX3" fmla="*/ 3239761 w 4172596"/>
              <a:gd name="connsiteY3" fmla="*/ 342900 h 4952999"/>
              <a:gd name="connsiteX4" fmla="*/ 3239761 w 4172596"/>
              <a:gd name="connsiteY4" fmla="*/ 1934392 h 4952999"/>
              <a:gd name="connsiteX5" fmla="*/ 4172596 w 4172596"/>
              <a:gd name="connsiteY5" fmla="*/ 1934392 h 4952999"/>
              <a:gd name="connsiteX6" fmla="*/ 4172596 w 4172596"/>
              <a:gd name="connsiteY6" fmla="*/ 4952999 h 4952999"/>
              <a:gd name="connsiteX7" fmla="*/ 0 w 4172596"/>
              <a:gd name="connsiteY7" fmla="*/ 4952999 h 4952999"/>
              <a:gd name="connsiteX0" fmla="*/ 3239761 w 4172596"/>
              <a:gd name="connsiteY0" fmla="*/ 1934392 h 4952999"/>
              <a:gd name="connsiteX1" fmla="*/ 4172596 w 4172596"/>
              <a:gd name="connsiteY1" fmla="*/ 1934392 h 4952999"/>
              <a:gd name="connsiteX2" fmla="*/ 4172596 w 4172596"/>
              <a:gd name="connsiteY2" fmla="*/ 4952999 h 4952999"/>
              <a:gd name="connsiteX3" fmla="*/ 0 w 4172596"/>
              <a:gd name="connsiteY3" fmla="*/ 4952999 h 4952999"/>
              <a:gd name="connsiteX4" fmla="*/ 0 w 4172596"/>
              <a:gd name="connsiteY4" fmla="*/ 0 h 4952999"/>
              <a:gd name="connsiteX5" fmla="*/ 4172596 w 4172596"/>
              <a:gd name="connsiteY5" fmla="*/ 0 h 4952999"/>
              <a:gd name="connsiteX6" fmla="*/ 4172596 w 4172596"/>
              <a:gd name="connsiteY6" fmla="*/ 342900 h 4952999"/>
              <a:gd name="connsiteX7" fmla="*/ 3239761 w 4172596"/>
              <a:gd name="connsiteY7" fmla="*/ 342900 h 4952999"/>
              <a:gd name="connsiteX8" fmla="*/ 3331201 w 4172596"/>
              <a:gd name="connsiteY8" fmla="*/ 2025832 h 4952999"/>
              <a:gd name="connsiteX0" fmla="*/ 3239761 w 4172596"/>
              <a:gd name="connsiteY0" fmla="*/ 1934392 h 4952999"/>
              <a:gd name="connsiteX1" fmla="*/ 4172596 w 4172596"/>
              <a:gd name="connsiteY1" fmla="*/ 1934392 h 4952999"/>
              <a:gd name="connsiteX2" fmla="*/ 4172596 w 4172596"/>
              <a:gd name="connsiteY2" fmla="*/ 4952999 h 4952999"/>
              <a:gd name="connsiteX3" fmla="*/ 0 w 4172596"/>
              <a:gd name="connsiteY3" fmla="*/ 4952999 h 4952999"/>
              <a:gd name="connsiteX4" fmla="*/ 0 w 4172596"/>
              <a:gd name="connsiteY4" fmla="*/ 0 h 4952999"/>
              <a:gd name="connsiteX5" fmla="*/ 4172596 w 4172596"/>
              <a:gd name="connsiteY5" fmla="*/ 0 h 4952999"/>
              <a:gd name="connsiteX6" fmla="*/ 4172596 w 4172596"/>
              <a:gd name="connsiteY6" fmla="*/ 342900 h 4952999"/>
              <a:gd name="connsiteX7" fmla="*/ 3239761 w 4172596"/>
              <a:gd name="connsiteY7" fmla="*/ 342900 h 4952999"/>
              <a:gd name="connsiteX0" fmla="*/ 4172596 w 4172596"/>
              <a:gd name="connsiteY0" fmla="*/ 1934392 h 4952999"/>
              <a:gd name="connsiteX1" fmla="*/ 4172596 w 4172596"/>
              <a:gd name="connsiteY1" fmla="*/ 4952999 h 4952999"/>
              <a:gd name="connsiteX2" fmla="*/ 0 w 4172596"/>
              <a:gd name="connsiteY2" fmla="*/ 4952999 h 4952999"/>
              <a:gd name="connsiteX3" fmla="*/ 0 w 4172596"/>
              <a:gd name="connsiteY3" fmla="*/ 0 h 4952999"/>
              <a:gd name="connsiteX4" fmla="*/ 4172596 w 4172596"/>
              <a:gd name="connsiteY4" fmla="*/ 0 h 4952999"/>
              <a:gd name="connsiteX5" fmla="*/ 4172596 w 4172596"/>
              <a:gd name="connsiteY5" fmla="*/ 342900 h 4952999"/>
              <a:gd name="connsiteX6" fmla="*/ 3239761 w 4172596"/>
              <a:gd name="connsiteY6" fmla="*/ 342900 h 4952999"/>
              <a:gd name="connsiteX0" fmla="*/ 4172596 w 4172596"/>
              <a:gd name="connsiteY0" fmla="*/ 1934392 h 4952999"/>
              <a:gd name="connsiteX1" fmla="*/ 4172596 w 4172596"/>
              <a:gd name="connsiteY1" fmla="*/ 4952999 h 4952999"/>
              <a:gd name="connsiteX2" fmla="*/ 0 w 4172596"/>
              <a:gd name="connsiteY2" fmla="*/ 4952999 h 4952999"/>
              <a:gd name="connsiteX3" fmla="*/ 0 w 4172596"/>
              <a:gd name="connsiteY3" fmla="*/ 0 h 4952999"/>
              <a:gd name="connsiteX4" fmla="*/ 4172596 w 4172596"/>
              <a:gd name="connsiteY4" fmla="*/ 0 h 4952999"/>
              <a:gd name="connsiteX5" fmla="*/ 4172596 w 4172596"/>
              <a:gd name="connsiteY5" fmla="*/ 342900 h 495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72596" h="4952999">
                <a:moveTo>
                  <a:pt x="4172596" y="1934392"/>
                </a:moveTo>
                <a:lnTo>
                  <a:pt x="4172596" y="4952999"/>
                </a:lnTo>
                <a:lnTo>
                  <a:pt x="0" y="4952999"/>
                </a:lnTo>
                <a:lnTo>
                  <a:pt x="0" y="0"/>
                </a:lnTo>
                <a:lnTo>
                  <a:pt x="4172596" y="0"/>
                </a:lnTo>
                <a:lnTo>
                  <a:pt x="4172596" y="342900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D42EFBF-22E1-CF40-BDC6-6A4375CE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786" y="1319622"/>
            <a:ext cx="3481988" cy="1591492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 cap="all" spc="500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Learning Benefits</a:t>
            </a:r>
            <a:br>
              <a:rPr lang="en-US" b="1" kern="1200" cap="all" spc="500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</a:br>
            <a:endParaRPr lang="en-US" b="1" kern="1200" cap="all" spc="500" baseline="0" dirty="0">
              <a:solidFill>
                <a:schemeClr val="accent1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85F35F-8A3F-7F1B-4AA7-414F4B64F533}"/>
              </a:ext>
            </a:extLst>
          </p:cNvPr>
          <p:cNvSpPr txBox="1"/>
          <p:nvPr/>
        </p:nvSpPr>
        <p:spPr>
          <a:xfrm>
            <a:off x="4925589" y="1430639"/>
            <a:ext cx="5518574" cy="40843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When we all see the same error messages, we can help each other more effectively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Screen sharing and code sharing just work, without version compatibility headaches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Following along with live coding is smoother when everyone's Python behaves the same way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+ Most tech companies enforce specific development environments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05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6C416-7C5A-9F63-C33D-2BAA4196F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692" y="0"/>
            <a:ext cx="8977511" cy="756239"/>
          </a:xfrm>
        </p:spPr>
        <p:txBody>
          <a:bodyPr/>
          <a:lstStyle/>
          <a:p>
            <a:r>
              <a:rPr lang="en-US" dirty="0"/>
              <a:t>3 types of command lines</a:t>
            </a:r>
          </a:p>
        </p:txBody>
      </p:sp>
      <p:pic>
        <p:nvPicPr>
          <p:cNvPr id="3074" name="Picture 2" descr="Símbolo del sistema de Windows - Wikipedia, la enciclopedia libre">
            <a:extLst>
              <a:ext uri="{FF2B5EF4-FFF2-40B4-BE49-F238E27FC236}">
                <a16:creationId xmlns:a16="http://schemas.microsoft.com/office/drawing/2014/main" id="{E54C27FC-6175-250C-82A1-30AC8FD2BF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584"/>
          <a:stretch/>
        </p:blipFill>
        <p:spPr bwMode="auto">
          <a:xfrm>
            <a:off x="1053901" y="1500186"/>
            <a:ext cx="3946724" cy="314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2D4BAB-ADF1-984C-7D79-0E94A8374ACA}"/>
              </a:ext>
            </a:extLst>
          </p:cNvPr>
          <p:cNvSpPr txBox="1"/>
          <p:nvPr/>
        </p:nvSpPr>
        <p:spPr>
          <a:xfrm>
            <a:off x="1053901" y="1130854"/>
            <a:ext cx="863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cmd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FDC2B-BD3B-1925-6E73-FBB78A03E36E}"/>
              </a:ext>
            </a:extLst>
          </p:cNvPr>
          <p:cNvSpPr txBox="1"/>
          <p:nvPr/>
        </p:nvSpPr>
        <p:spPr>
          <a:xfrm>
            <a:off x="6415088" y="1131924"/>
            <a:ext cx="93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2.Bash </a:t>
            </a:r>
          </a:p>
        </p:txBody>
      </p:sp>
      <p:pic>
        <p:nvPicPr>
          <p:cNvPr id="3078" name="Picture 6" descr="Terminal User Guide for Mac - Apple Support">
            <a:extLst>
              <a:ext uri="{FF2B5EF4-FFF2-40B4-BE49-F238E27FC236}">
                <a16:creationId xmlns:a16="http://schemas.microsoft.com/office/drawing/2014/main" id="{7B1B4437-4A00-FDE8-BC4E-8C2D7334F2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9262" b="16354"/>
          <a:stretch/>
        </p:blipFill>
        <p:spPr bwMode="auto">
          <a:xfrm>
            <a:off x="6424794" y="1500186"/>
            <a:ext cx="3651957" cy="2411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0A951A-DDCC-C190-3F7F-1BCA1978F0F4}"/>
              </a:ext>
            </a:extLst>
          </p:cNvPr>
          <p:cNvSpPr txBox="1"/>
          <p:nvPr/>
        </p:nvSpPr>
        <p:spPr>
          <a:xfrm>
            <a:off x="1174158" y="5384208"/>
            <a:ext cx="1485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/>
              <a:t>3. </a:t>
            </a:r>
            <a:r>
              <a:rPr lang="en-US" strike="sngStrike" dirty="0" err="1"/>
              <a:t>Powershell</a:t>
            </a:r>
            <a:endParaRPr lang="en-US" strike="sngStrike" dirty="0"/>
          </a:p>
        </p:txBody>
      </p:sp>
      <p:pic>
        <p:nvPicPr>
          <p:cNvPr id="3080" name="Picture 8" descr="How to Customize Your WSL Terminal Window">
            <a:extLst>
              <a:ext uri="{FF2B5EF4-FFF2-40B4-BE49-F238E27FC236}">
                <a16:creationId xmlns:a16="http://schemas.microsoft.com/office/drawing/2014/main" id="{25FC3205-FF9C-BA98-2F51-6A839F3473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86"/>
          <a:stretch/>
        </p:blipFill>
        <p:spPr bwMode="auto">
          <a:xfrm>
            <a:off x="7871254" y="3169599"/>
            <a:ext cx="3354675" cy="272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5664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1885-EA7F-98E0-C057-D127F56B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begin with windows Folk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F30AEA-E84B-C73B-835A-F4A25C2598CD}"/>
              </a:ext>
            </a:extLst>
          </p:cNvPr>
          <p:cNvSpPr txBox="1"/>
          <p:nvPr/>
        </p:nvSpPr>
        <p:spPr>
          <a:xfrm>
            <a:off x="2619632" y="3015049"/>
            <a:ext cx="67862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err="1"/>
              <a:t>wsl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If </a:t>
            </a:r>
            <a:r>
              <a:rPr lang="en-US" dirty="0" err="1"/>
              <a:t>wsl</a:t>
            </a:r>
            <a:r>
              <a:rPr lang="en-US" dirty="0"/>
              <a:t> doesn’t work: </a:t>
            </a:r>
            <a:r>
              <a:rPr lang="en-US" dirty="0" err="1"/>
              <a:t>cmd</a:t>
            </a:r>
            <a:r>
              <a:rPr lang="en-US" dirty="0"/>
              <a:t> -&gt; </a:t>
            </a:r>
            <a:r>
              <a:rPr lang="en-US" dirty="0" err="1"/>
              <a:t>wsl</a:t>
            </a:r>
            <a:r>
              <a:rPr lang="en-US" dirty="0"/>
              <a:t> –install</a:t>
            </a:r>
          </a:p>
          <a:p>
            <a:pPr marL="342900" indent="-342900">
              <a:buAutoNum type="arabicPeriod"/>
            </a:pPr>
            <a:r>
              <a:rPr lang="en-US" dirty="0"/>
              <a:t>Then do bash class</a:t>
            </a:r>
          </a:p>
          <a:p>
            <a:pPr marL="342900" indent="-342900">
              <a:buAutoNum type="arabicPeriod"/>
            </a:pPr>
            <a:r>
              <a:rPr lang="en-US" dirty="0"/>
              <a:t>When we reach python/git, Windows folk need special treatment</a:t>
            </a:r>
          </a:p>
          <a:p>
            <a:pPr marL="342900" indent="-342900">
              <a:buAutoNum type="arabicPeriod"/>
            </a:pPr>
            <a:r>
              <a:rPr lang="en-US" dirty="0"/>
              <a:t>(git, python) – in </a:t>
            </a:r>
            <a:r>
              <a:rPr lang="en-US" dirty="0" err="1"/>
              <a:t>cmd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487939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7327</TotalTime>
  <Words>400</Words>
  <Application>Microsoft Macintosh PowerPoint</Application>
  <PresentationFormat>Widescreen</PresentationFormat>
  <Paragraphs>93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Arial Narrow</vt:lpstr>
      <vt:lpstr>Poppins</vt:lpstr>
      <vt:lpstr>Quicksand Bold</vt:lpstr>
      <vt:lpstr>Trade Gothic Next Cond</vt:lpstr>
      <vt:lpstr>Trade Gothic Next Light</vt:lpstr>
      <vt:lpstr>LimelightVTI</vt:lpstr>
      <vt:lpstr>Ai Engineering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are going to teach you</vt:lpstr>
      <vt:lpstr>Easy = f(time doing similar things)</vt:lpstr>
      <vt:lpstr>Bash: Command line tools</vt:lpstr>
      <vt:lpstr>Git and Bash</vt:lpstr>
      <vt:lpstr>It works on my machine  →  It works on everyone's machine</vt:lpstr>
      <vt:lpstr>Learning Benefits </vt:lpstr>
      <vt:lpstr>3 types of command lines</vt:lpstr>
      <vt:lpstr>Let’s begin with windows Folk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 G</dc:creator>
  <cp:lastModifiedBy>Eliza G</cp:lastModifiedBy>
  <cp:revision>10</cp:revision>
  <dcterms:created xsi:type="dcterms:W3CDTF">2025-02-04T16:23:49Z</dcterms:created>
  <dcterms:modified xsi:type="dcterms:W3CDTF">2025-02-14T12:56:01Z</dcterms:modified>
</cp:coreProperties>
</file>